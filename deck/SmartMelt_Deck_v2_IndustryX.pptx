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  <p:sldId id="266" r:id="rId17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  <Relationship Id="rId16" Type="http://schemas.openxmlformats.org/officeDocument/2006/relationships/slide" Target="slides/slide10.xml"/>
  <Relationship Id="rId17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ImgT" Type="http://schemas.openxmlformats.org/officeDocument/2006/relationships/image" Target="../media/image_traj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ImgD" Type="http://schemas.openxmlformats.org/officeDocument/2006/relationships/image" Target="../media/image_demo1.png"/><Relationship Id="rIdImgE" Type="http://schemas.openxmlformats.org/officeDocument/2006/relationships/image" Target="../media/image_ekf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215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5A2A1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840480"/>
            <a:ext cx="6400800" cy="6400800"/>
          </a:xfrm>
          <a:prstGeom prst="ellipse">
            <a:avLst/>
          </a:prstGeom>
          <a:solidFill>
            <a:srgbClr val="1E3E50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8B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EXTRACTMET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SmartMelt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physics + machine-learning mathematical model for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melt control in Indian MSME steel plants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4FA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MATHEMATICAL MODEL DOCUMENTATION  ·  PYTHON REFERENCE IMPLEMENTATION  ·  OPERATOR CONSOLE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Dr. Ajay Kumar Shukla · Centre for Pyrometallurgy, IIT Madras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A MODEL, NOT A DASHBOARD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 melt shop already has a control system.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None of them have a plant.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50–120 kWh/t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energy loss per heat — the gap between average practice and the plant's own best heats, same equipment, same scrap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19659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±15–25 °C, ±0.02–0.05 %C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0" y="31546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endpoint scatter on manual practice — driving over-refining, reblows, and reject heats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92440" y="1965960"/>
            <a:ext cx="3611880" cy="3291840"/>
          </a:xfrm>
          <a:prstGeom prst="roundRect">
            <a:avLst>
              <a:gd name="adj" fmla="val 2222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2,000+ heats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66760" y="315468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Industry-Y BOF data behind the validated endpoint model this system's approach is built 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553212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EE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measurement — it's a model of the heat that turns sparse, noisy sensor readings into a trustworthy prediction of what the bath is doing right now, and what it will do if nothing changes.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SMARTMELT — MATHEMATICAL MODEL &amp; OPERATOR SYSTEM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Three layers, one principle: ML corrects physics, it never replaces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30552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D2226"/>
          </a:solidFill>
          <a:ln w="19050">
            <a:solidFill>
              <a:srgbClr val="4FA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305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A8D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74520" y="2039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Physics core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74520" y="2441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फिजिक्स कोर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74920" y="2039112"/>
            <a:ext cx="6446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 mass, energy, species and lining ODE. Thermochemical equilibria, kinetics, slag model. Runs in microseconds — the load-bearing structure that never drifts silently.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447288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70332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D2226"/>
          </a:solidFill>
          <a:ln w="19050">
            <a:solidFill>
              <a:srgbClr val="FF6A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03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7452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ML residual layer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74520" y="401421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एमएल अवशिष्ट परत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74920" y="3611880"/>
            <a:ext cx="6446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y_measured − f_physics only. Gaussian-process + gradient-boosted residual, maturity tiers from cold-start (200 heats) to calibrated (2,000+). Bounded extrapolation by construction.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20056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5276088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D2226"/>
          </a:solidFill>
          <a:ln w="19050">
            <a:solidFill>
              <a:srgbClr val="33D1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27608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D17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74520" y="51846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Estimation &amp; control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874520" y="55869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अनुमान और नियंत्रण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74920" y="5184648"/>
            <a:ext cx="6446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Kalman Filter fuses sparse sensors into a live state estimate. Charge-mix optimiser and receding-horizon MPC issue advisory recommendations — no PLC write path.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SMARTMELT — MATHEMATICAL MODEL &amp; OPERATOR SYSTEM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MATHEMATICAL MODEL — LAYER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The physics core: 30 governing equations, one state vector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2039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E1–E5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" y="2404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Balances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8952" y="280720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(metal + slag species), bath &amp; solid energy, N-node radial lining conduction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8745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2039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E6–E13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53712" y="2404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Equilibria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53712" y="280720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logK for [C],[Si],[Mn] oxidation, slag optical basicity, activity coefficients, h_O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8745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8472" y="2039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E14–E19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48472" y="2404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Endpoints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48472" y="280720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%C/%Si/%Mn equilibrium floors, Healy P-partition, sulphide capacity, L_S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11480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4279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E20–E23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8952" y="4645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Energy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8952" y="504748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melt floor, IF coupling vs. fill, EAF arc efficiency, converter losses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411480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53712" y="4279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E24–E30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53712" y="4645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Kinetics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53712" y="504748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laws for decarburisation, Si/Mn/P/S transfer, oxygen ledger with slag saturation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92440" y="411480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48472" y="4279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E50–E60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48472" y="46451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Diagnostics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348472" y="504748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Standing-loss UA test, identifiability, energy audit closure, calibration bounds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E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plant-specific number — furnace geometry, lining thickness, coupling efficiency, sensor suite — lives in one YAML config. The equations never change between an IF Lite install and an EAF/BOF Pro install.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SMARTMELT — MATHEMATICAL MODEL &amp; OPERATOR SYSTEM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MATHEMATICAL MODEL — LAYERS 2 &amp; 3A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y = f_physics(x,θ) + g_ML(features) + ε — and why that order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Residual learning (E31–E39)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Matern-3/2 Gaussian process on the physics residual, clipped to a physically bounded correction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gradient-boosted trees (HistGBM) for endpoint intervals as data accumulates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tiers: cold-start (&lt;200 heats, physics-led) → deployable (1,000) → calibrated (2,000+)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Stability Index + MAPE drift monitor — flags regime change (new scrap supplier) before it silently degrades advice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Tramp-element soft sensor (Cu, Sn, Cr): mass-balance prior + Ridge correction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87452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A8D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State estimation (E32–E33)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6060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Kalman Filter over an augmented [state, θ] vector — joint tracking of bath conditions and slow plant parameters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{η_electrical, UA_lining_scale, k_C_scale, ...} — the same parameters an offline calibration fits, now tracked online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Finite-difference Jacobians, Joseph-form covariance update for numerical stability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masking: a Lite install (immersion TC only) and a Pro install (+ off-gas, sub-lance) share one filter — just a different observation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SMARTMELT — MATHEMATICAL MODEL &amp; OPERATOR SYSTEM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MATHEMATICAL MODEL — LAYER 3B/3C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From estimate to action: least-cost charge, receding-horizon control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Charge-mix optimiser (E40–E45)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25786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F1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Σ price·mass   s.t. grade chemistry window, hard tramp-element walls, integer lot sizes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as an LP/MILP (scipy linprog/milp) — plant-agnostic; only the material table and constraints change per client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walls on Cu/Sn/Cr recovery=1 (no metallurgical sink) — the constraint a spreadsheet mix can't enforce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prices reported per tramp-element constraint: the ₹/t value of relaxing it — the number that sells the case for better scrap sorting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back from heat #1 — no training history required, unlike the ML layer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FA8D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Melt MPC (E50–E53)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92240" y="26060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Receding-horizon SLSQP over piecewise-constant power/O2/addition blocks (4–6 per horizon)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onto the furnace's real discrete tap-power levels — no continuous setpoint a controller can't realise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 and overheat barrier terms keep recommendations inside safe operating envelope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tap_time_advice(): the single number an operator actually wants — output is a recommendation, not a setpoint write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advisory-only in this phase: builds the trust and the logged-outcome dataset a future closed-loop mode would need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SMARTMELT — MATHEMATICAL MODEL &amp; OPERATOR SYSTEM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VALIDATION DISCIPLINE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±15 °C and ±0.02 %C only mean something with three qualifiers attached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4825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1-sigma, 2-sigma, or max?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206240" y="2048256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endpoint_hit_rate() reports hit-rate at a stated tolerance plus bias, p95 error — never a bare number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28269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 what split?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06240" y="3282696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train/test only — heats 1..N train, N+1..M test. Random k-fold leaks the lining campaign and the scrap regime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438912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51713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Against what reference?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206240" y="4517136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σ_model² = σ_observed² − σ_reference² — a drop-cell has its own ±3–5°C, and that's not the model's error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5760720"/>
            <a:ext cx="11201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EE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one cheap experiment: a 20–30 min standing-loss hold (power off, full bath) directly identifies UA_lining_scale and de-correlates it from η_electrical in every later fit — the difference between a fitted model and a curve-fit.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SMARTMELT — MATHEMATICAL MODEL &amp; OPERATOR SYSTEM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WHAT THE OPERATOR SEES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One screen: where the heat is, where it's going, what to 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6903720" cy="4343400"/>
          </a:xfrm>
          <a:prstGeom prst="roundRect">
            <a:avLst>
              <a:gd name="adj" fmla="val 1684"/>
            </a:avLst>
          </a:prstGeom>
          <a:solidFill>
            <a:srgbClr val="1D2226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947672"/>
            <a:ext cx="6574536" cy="502920"/>
          </a:xfrm>
          <a:prstGeom prst="roundRect">
            <a:avLst>
              <a:gd name="adj" fmla="val 9091"/>
            </a:avLst>
          </a:prstGeom>
          <a:solidFill>
            <a:srgbClr val="171B1F"/>
          </a:solidFill>
          <a:ln w="9525">
            <a:solidFill>
              <a:srgbClr val="2A31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47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F1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INDUSTRY-X IF  ·  HEAT H-1042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20840" y="2130552"/>
            <a:ext cx="146304" cy="146304"/>
          </a:xfrm>
          <a:prstGeom prst="ellipse">
            <a:avLst/>
          </a:prstGeom>
          <a:solidFill>
            <a:srgbClr val="33D17A"/>
          </a:solidFill>
          <a:ln/>
        </p:spPr>
      </p:sp>
      <p:sp>
        <p:nvSpPr>
          <p:cNvPr id="8" name="Text 6"/>
          <p:cNvSpPr/>
          <p:nvPr/>
        </p:nvSpPr>
        <p:spPr>
          <a:xfrm>
            <a:off x="5989320" y="19476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6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GREEN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3063240"/>
            <a:ext cx="1737360" cy="1737360"/>
          </a:xfrm>
          <a:prstGeom prst="pie">
            <a:avLst>
              <a:gd name="adj1" fmla="val 0"/>
              <a:gd name="adj2" fmla="val 21600000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063240"/>
            <a:ext cx="1737360" cy="1737360"/>
          </a:xfrm>
          <a:prstGeom prst="arc">
            <a:avLst>
              <a:gd name="adj1" fmla="val -5400000"/>
              <a:gd name="adj2" fmla="val 13200000"/>
            </a:avLst>
          </a:prstGeom>
          <a:noFill/>
          <a:ln w="127000">
            <a:solidFill>
              <a:srgbClr val="FF6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639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8680" y="4059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8B96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MIN LEFT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3200400"/>
            <a:ext cx="960120" cy="868680"/>
          </a:xfrm>
          <a:prstGeom prst="roundRect">
            <a:avLst>
              <a:gd name="adj" fmla="val 5263"/>
            </a:avLst>
          </a:prstGeom>
          <a:solidFill>
            <a:srgbClr val="171B1F"/>
          </a:solidFill>
          <a:ln w="15875">
            <a:solidFill>
              <a:srgbClr val="33D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32644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9272" y="35387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0.204%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25112" y="3200400"/>
            <a:ext cx="960120" cy="868680"/>
          </a:xfrm>
          <a:prstGeom prst="roundRect">
            <a:avLst>
              <a:gd name="adj" fmla="val 5263"/>
            </a:avLst>
          </a:prstGeom>
          <a:solidFill>
            <a:srgbClr val="171B1F"/>
          </a:solidFill>
          <a:ln w="15875">
            <a:solidFill>
              <a:srgbClr val="33D1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98264" y="32644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98264" y="35387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0.331%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04104" y="3200400"/>
            <a:ext cx="960120" cy="868680"/>
          </a:xfrm>
          <a:prstGeom prst="roundRect">
            <a:avLst>
              <a:gd name="adj" fmla="val 5263"/>
            </a:avLst>
          </a:prstGeom>
          <a:solidFill>
            <a:srgbClr val="171B1F"/>
          </a:solidFill>
          <a:ln w="15875">
            <a:solidFill>
              <a:srgbClr val="F0A8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7256" y="32644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77256" y="35387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0.034%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83096" y="3200400"/>
            <a:ext cx="960120" cy="868680"/>
          </a:xfrm>
          <a:prstGeom prst="roundRect">
            <a:avLst>
              <a:gd name="adj" fmla="val 5263"/>
            </a:avLst>
          </a:prstGeom>
          <a:solidFill>
            <a:srgbClr val="171B1F"/>
          </a:solidFill>
          <a:ln w="15875">
            <a:solidFill>
              <a:srgbClr val="33D1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6248" y="32644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56248" y="35387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0.027%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7512" y="4389120"/>
            <a:ext cx="6574536" cy="1508760"/>
          </a:xfrm>
          <a:prstGeom prst="roundRect">
            <a:avLst>
              <a:gd name="adj" fmla="val 3030"/>
            </a:avLst>
          </a:prstGeom>
          <a:solidFill>
            <a:srgbClr val="171B1F"/>
          </a:solidFill>
          <a:ln w="9525">
            <a:solidFill>
              <a:srgbClr val="2A31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453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B96A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BATH TEMPERATURE (°C)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68680" y="5161788"/>
            <a:ext cx="925830" cy="50292"/>
          </a:xfrm>
          <a:prstGeom prst="line">
            <a:avLst/>
          </a:prstGeom>
          <a:noFill/>
          <a:ln w="28575">
            <a:solidFill>
              <a:srgbClr val="FF6A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94510" y="5212080"/>
            <a:ext cx="925830" cy="80467"/>
          </a:xfrm>
          <a:prstGeom prst="line">
            <a:avLst/>
          </a:prstGeom>
          <a:noFill/>
          <a:ln w="28575">
            <a:solidFill>
              <a:srgbClr val="FF6A3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20340" y="5292547"/>
            <a:ext cx="925830" cy="60350"/>
          </a:xfrm>
          <a:prstGeom prst="line">
            <a:avLst/>
          </a:prstGeom>
          <a:noFill/>
          <a:ln w="28575">
            <a:solidFill>
              <a:srgbClr val="FF6A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46170" y="5352898"/>
            <a:ext cx="925830" cy="60350"/>
          </a:xfrm>
          <a:prstGeom prst="line">
            <a:avLst/>
          </a:prstGeom>
          <a:noFill/>
          <a:ln w="28575">
            <a:solidFill>
              <a:srgbClr val="FF6A3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5413248"/>
            <a:ext cx="740664" cy="80467"/>
          </a:xfrm>
          <a:prstGeom prst="line">
            <a:avLst/>
          </a:prstGeom>
          <a:noFill/>
          <a:ln w="28575">
            <a:solidFill>
              <a:srgbClr val="FF6A3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12664" y="5493715"/>
            <a:ext cx="864108" cy="60350"/>
          </a:xfrm>
          <a:prstGeom prst="line">
            <a:avLst/>
          </a:prstGeom>
          <a:noFill/>
          <a:ln w="28575">
            <a:solidFill>
              <a:srgbClr val="FF6A3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236208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9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reference — the shipped console (SmartMelt_Operator_Console.html) is a live, playable HTML dashboard driven by the physics engine.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3524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A8D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Heat clock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635240" y="21031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dial: elapsed / remaining time, live process stage — charging, melting, refining, tap-ready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7635240" y="2679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A8D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Live trends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635240" y="29992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 temperature and carbon vs. tap aim ± tolerance band, updating from the state estimate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7635240" y="357530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A8D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Instrument grid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635240" y="389534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/ Mn / P / S / slag B2 / FeO — each tile colours green / amber / red against its own tolerance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7635240" y="447141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A8D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Energy audit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635240" y="47914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grid kWh went this heat: useful melt vs. lining, cooling, radiation, converter loss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7635240" y="53675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A8D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Advisory feed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635240" y="56875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(EN/Hindi) recommendation log with the reason attached — never a bare instruction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SMARTMELT — MATHEMATICAL MODEL &amp; OPERATOR SYSTEM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WHERE THIS GOES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Economics are conservative by construction, and the roadmap is honest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6A34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Every saving number is a disputed line, shown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target = the plant's OWN best-decile heat, same scrap, same equipment — not a vendor benchmark</a:t>
            </a:r>
            <a:endParaRPr lang="en-US" sz="11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savings_attribution(): regression-adjusts for charge mass / carbon / tap-T drift between the before/after windows before crediting SmartMelt</a:t>
            </a:r>
            <a:endParaRPr lang="en-US" sz="11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shown with tariff, opex, and carbon-credit lines broken out — capex ÷ net annual, in months</a:t>
            </a:r>
            <a:endParaRPr lang="en-US" sz="118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8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NPV at 12% discount reported alongside payback, not instead of it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6263640" y="1874520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171B1F"/>
          </a:solidFill>
          <a:ln w="12700">
            <a:solidFill>
              <a:srgbClr val="2A3138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103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FA8D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Roadmap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37960" y="2697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Advisory-only Phase 1: physics core + charge-mix optimiser ship from heat #1, no history needed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35935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200–1,000 heats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38679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residual layer moves cold-start → deployable; drift monitor active from day 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44897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2,000+ heats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47640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tier; MPC recommendations tighten; shared-savings evidence log mature enough to bill against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53858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D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56601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PLC write path — only after the advisory log demonstrates sustained trust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SMARTMELT — MATHEMATICAL MODEL &amp; OPERATOR SYSTEM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60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0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x11"/>
          <p:cNvSpPr/>
          <p:nvPr/>
        </p:nvSpPr>
        <p:spPr>
          <a:xfrm>
            <a:off x="502920" y="384048"/>
            <a:ext cx="11186160" cy="320040"/>
          </a:xfrm>
          <a:prstGeom prst="rect">
            <a:avLst/>
          </a:prstGeom>
        </p:spPr>
        <p:txBody>
          <a:bodyPr anchor="t" lIns="0" tIns="0" rIns="0" bIns="0"/>
          <a:lstStyle/>
          <a:p>
            <a:r>
              <a:rPr lang="en-US" sz="1150" b="1" spc="200">
                <a:solidFill>
                  <a:srgbClr val="C8501A"/>
                </a:solidFill>
                <a:latin typeface="IBM Plex Mono"/>
              </a:rPr>
              <a:t xml:space="preserve">MODEL OUTPUT — LAYER 1</a:t>
            </a:r>
          </a:p>
        </p:txBody>
      </p:sp>
      <p:sp>
        <p:nvSpPr>
          <p:cNvPr id="12" name="tx12"/>
          <p:cNvSpPr/>
          <p:nvPr/>
        </p:nvSpPr>
        <p:spPr>
          <a:xfrm>
            <a:off x="502920" y="713232"/>
            <a:ext cx="11186160" cy="566928"/>
          </a:xfrm>
          <a:prstGeom prst="rect">
            <a:avLst/>
          </a:prstGeom>
        </p:spPr>
        <p:txBody>
          <a:bodyPr anchor="t" lIns="0" tIns="0" rIns="0" bIns="0"/>
          <a:lstStyle/>
          <a:p>
            <a:r>
              <a:rPr lang="en-US" sz="2400" b="1" spc="0">
                <a:solidFill>
                  <a:srgbClr val="FFFFFF"/>
                </a:solidFill>
                <a:latin typeface="Oswald"/>
              </a:rPr>
              <a:t xml:space="preserve">Process trajectory — one reference heat (Industry-X, 12 t IF)</a:t>
            </a:r>
          </a:p>
        </p:txBody>
      </p:sp>
      <p:pic>
        <p:nvPicPr>
          <p:cNvPr id="113" name="trajectory"/>
          <p:cNvPicPr/>
          <p:nvPr/>
        </p:nvPicPr>
        <p:blipFill>
          <a:blip r:embed="rIdImgT"/>
          <a:stretch>
            <a:fillRect/>
          </a:stretch>
        </p:blipFill>
        <p:spPr>
          <a:xfrm>
            <a:off x="2114622" y="1371600"/>
            <a:ext cx="7962755" cy="4343400"/>
          </a:xfrm>
          <a:prstGeom prst="roundRect">
            <a:avLst>
              <a:gd name="adj" fmla="val 2500"/>
            </a:avLst>
          </a:prstGeom>
          <a:ln w="12700">
            <a:solidFill>
              <a:srgbClr val="2A3138"/>
            </a:solidFill>
          </a:ln>
        </p:spPr>
      </p:pic>
      <p:sp>
        <p:nvSpPr>
          <p:cNvPr id="14" name="tx14"/>
          <p:cNvSpPr/>
          <p:nvPr/>
        </p:nvSpPr>
        <p:spPr>
          <a:xfrm>
            <a:off x="502920" y="5797296"/>
            <a:ext cx="11186160" cy="548640"/>
          </a:xfrm>
          <a:prstGeom prst="rect">
            <a:avLst/>
          </a:prstGeom>
        </p:spPr>
        <p:txBody>
          <a:bodyPr anchor="t" lIns="0" tIns="0" rIns="0" bIns="0"/>
          <a:lstStyle/>
          <a:p>
            <a:r>
              <a:rPr lang="en-US" sz="1000" b="0" spc="0">
                <a:solidFill>
                  <a:srgbClr val="8B93A1"/>
                </a:solidFill>
                <a:latin typeface="IBM Plex Sans"/>
              </a:rPr>
              <a:t xml:space="preserve">Charge-in freeze and recovery, isothermal melt-down, superheat-gated dissolution, and — at 60 min — 150 kg of mill scale: (FeO)+[C]→Fe+CO (E27c) cuts carbon, returns iron to the bath, and cools it. Verified thermochemistry: +100 kJ/mol CO = 1.39 MJ/kg FeO endothermic; Fe credit within 0.2 % of the stoichiometric ceiling. Element ledger &lt; 1 %, first-law closure ≈ 3 %.</a:t>
            </a:r>
          </a:p>
        </p:txBody>
      </p:sp>
      <p:sp>
        <p:nvSpPr>
          <p:cNvPr id="15" name="tx15"/>
          <p:cNvSpPr/>
          <p:nvPr/>
        </p:nvSpPr>
        <p:spPr>
          <a:xfrm>
            <a:off x="502920" y="6473952"/>
            <a:ext cx="11186160" cy="274320"/>
          </a:xfrm>
          <a:prstGeom prst="rect">
            <a:avLst/>
          </a:prstGeom>
        </p:spPr>
        <p:txBody>
          <a:bodyPr anchor="t" lIns="0" tIns="0" rIns="0" bIns="0"/>
          <a:lstStyle/>
          <a:p>
            <a:r>
              <a:rPr lang="en-US" sz="1000" b="0" spc="0">
                <a:solidFill>
                  <a:srgbClr val="5B646E"/>
                </a:solidFill>
                <a:latin typeface="IBM Plex Mono"/>
              </a:rPr>
              <a:t xml:space="preserve">SMARTMELT — MATHEMATICAL MODEL &amp; OPERATOR SYSTEM		10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01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x15"/>
          <p:cNvSpPr/>
          <p:nvPr/>
        </p:nvSpPr>
        <p:spPr>
          <a:xfrm>
            <a:off x="502920" y="384048"/>
            <a:ext cx="11186160" cy="320040"/>
          </a:xfrm>
          <a:prstGeom prst="rect">
            <a:avLst/>
          </a:prstGeom>
        </p:spPr>
        <p:txBody>
          <a:bodyPr anchor="t" lIns="0" tIns="0" rIns="0" bIns="0"/>
          <a:lstStyle/>
          <a:p>
            <a:r>
              <a:rPr lang="en-US" sz="1150" b="1" spc="200">
                <a:solidFill>
                  <a:srgbClr val="C8501A"/>
                </a:solidFill>
                <a:latin typeface="IBM Plex Mono"/>
              </a:rPr>
              <a:t xml:space="preserve">MODEL VALIDATION</a:t>
            </a:r>
          </a:p>
        </p:txBody>
      </p:sp>
      <p:sp>
        <p:nvSpPr>
          <p:cNvPr id="16" name="tx16"/>
          <p:cNvSpPr/>
          <p:nvPr/>
        </p:nvSpPr>
        <p:spPr>
          <a:xfrm>
            <a:off x="502920" y="713232"/>
            <a:ext cx="11186160" cy="566928"/>
          </a:xfrm>
          <a:prstGeom prst="rect">
            <a:avLst/>
          </a:prstGeom>
        </p:spPr>
        <p:txBody>
          <a:bodyPr anchor="t" lIns="0" tIns="0" rIns="0" bIns="0"/>
          <a:lstStyle/>
          <a:p>
            <a:r>
              <a:rPr lang="en-US" sz="2400" b="1" spc="0">
                <a:solidFill>
                  <a:srgbClr val="FFFFFF"/>
                </a:solidFill>
                <a:latin typeface="Oswald"/>
              </a:rPr>
              <a:t xml:space="preserve">Simulated heat &amp; EKF tracking on a deliberately mismatched plant</a:t>
            </a:r>
          </a:p>
        </p:txBody>
      </p:sp>
      <p:pic>
        <p:nvPicPr>
          <p:cNvPr id="102" name="demo1"/>
          <p:cNvPicPr/>
          <p:nvPr/>
        </p:nvPicPr>
        <p:blipFill>
          <a:blip r:embed="rIdImgD"/>
          <a:stretch>
            <a:fillRect/>
          </a:stretch>
        </p:blipFill>
        <p:spPr>
          <a:xfrm>
            <a:off x="502920" y="1463040"/>
            <a:ext cx="5626608" cy="3580633"/>
          </a:xfrm>
          <a:prstGeom prst="roundRect">
            <a:avLst>
              <a:gd name="adj" fmla="val 2500"/>
            </a:avLst>
          </a:prstGeom>
          <a:ln w="12700">
            <a:solidFill>
              <a:srgbClr val="2A3138"/>
            </a:solidFill>
          </a:ln>
        </p:spPr>
      </p:pic>
      <p:pic>
        <p:nvPicPr>
          <p:cNvPr id="103" name="ekf"/>
          <p:cNvPicPr/>
          <p:nvPr/>
        </p:nvPicPr>
        <p:blipFill>
          <a:blip r:embed="rIdImgE"/>
          <a:stretch>
            <a:fillRect/>
          </a:stretch>
        </p:blipFill>
        <p:spPr>
          <a:xfrm>
            <a:off x="6495288" y="1463040"/>
            <a:ext cx="5193792" cy="1699817"/>
          </a:xfrm>
          <a:prstGeom prst="roundRect">
            <a:avLst>
              <a:gd name="adj" fmla="val 2500"/>
            </a:avLst>
          </a:prstGeom>
          <a:ln w="12700">
            <a:solidFill>
              <a:srgbClr val="2A3138"/>
            </a:solidFill>
          </a:ln>
        </p:spPr>
      </p:pic>
      <p:sp>
        <p:nvSpPr>
          <p:cNvPr id="21" name="tx21"/>
          <p:cNvSpPr/>
          <p:nvPr/>
        </p:nvSpPr>
        <p:spPr>
          <a:xfrm>
            <a:off x="6495288" y="3300017"/>
            <a:ext cx="5193792" cy="2377440"/>
          </a:xfrm>
          <a:prstGeom prst="rect">
            <a:avLst/>
          </a:prstGeom>
        </p:spPr>
        <p:txBody>
          <a:bodyPr anchor="t" lIns="0" tIns="0" rIns="0" bIns="0"/>
          <a:lstStyle/>
          <a:p>
            <a:r>
              <a:rPr lang="en-US" sz="1150" b="1" spc="0">
                <a:solidFill>
                  <a:srgbClr val="E9EDF0"/>
                </a:solidFill>
                <a:latin typeface="IBM Plex Sans"/>
              </a:rPr>
              <a:t xml:space="preserve">EKF vs hidden plant (η = 0.90, worn lining):</a:t>
            </a:r>
          </a:p>
          <a:p>
            <a:r>
              <a:rPr lang="en-US" sz="1050" b="0" spc="0">
                <a:solidFill>
                  <a:srgbClr val="8B93A1"/>
                </a:solidFill>
                <a:latin typeface="IBM Plex Sans"/>
              </a:rPr>
              <a:t xml:space="preserve">σ_T collapses 35 → 4 °C on three immersion dips; η̂ converges to 0.91 within one heat; final bath-temperature error +1.6 °C.</a:t>
            </a:r>
          </a:p>
          <a:p>
            <a:r>
              <a:rPr lang="en-US" sz="600" b="0" spc="0">
                <a:solidFill>
                  <a:srgbClr val="8B93A1"/>
                </a:solidFill>
                <a:latin typeface="Oswald"/>
              </a:rPr>
              <a:t xml:space="preserve"> </a:t>
            </a:r>
          </a:p>
          <a:p>
            <a:r>
              <a:rPr lang="en-US" sz="1150" b="1" spc="0">
                <a:solidFill>
                  <a:srgbClr val="E9EDF0"/>
                </a:solidFill>
                <a:latin typeface="IBM Plex Sans"/>
              </a:rPr>
              <a:t xml:space="preserve">Left — the full reference heat:</a:t>
            </a:r>
          </a:p>
          <a:p>
            <a:r>
              <a:rPr lang="en-US" sz="1050" b="0" spc="0">
                <a:solidFill>
                  <a:srgbClr val="8B93A1"/>
                </a:solidFill>
                <a:latin typeface="IBM Plex Sans"/>
              </a:rPr>
              <a:t xml:space="preserve">temperatures, inventories with undissolved additions, bath carbon against aim, and the heat-flow split (wall, radiation, bath→scrap).</a:t>
            </a:r>
          </a:p>
        </p:txBody>
      </p:sp>
      <p:sp>
        <p:nvSpPr>
          <p:cNvPr id="22" name="tx22"/>
          <p:cNvSpPr/>
          <p:nvPr/>
        </p:nvSpPr>
        <p:spPr>
          <a:xfrm>
            <a:off x="502920" y="6473952"/>
            <a:ext cx="11186160" cy="274320"/>
          </a:xfrm>
          <a:prstGeom prst="rect">
            <a:avLst/>
          </a:prstGeom>
        </p:spPr>
        <p:txBody>
          <a:bodyPr anchor="t" lIns="0" tIns="0" rIns="0" bIns="0"/>
          <a:lstStyle/>
          <a:p>
            <a:r>
              <a:rPr lang="en-US" sz="1000" b="0" spc="0">
                <a:solidFill>
                  <a:srgbClr val="5B646E"/>
                </a:solidFill>
                <a:latin typeface="IBM Plex Mono"/>
              </a:rPr>
              <a:t xml:space="preserve">SMARTMELT — MATHEMATICAL MODEL &amp; OPERATOR SYSTEM		11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2026-07-10T05:34:48Z</dcterms:created>
  <dcterms:modified xsi:type="dcterms:W3CDTF">2026-07-10T05:34:48Z</dcterms:modified>
</cp:coreProperties>
</file>